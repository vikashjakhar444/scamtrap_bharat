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2396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2980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3564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3856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4148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84732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Segoe UI" panose="020B0502040204020203"/>
              </a:defRPr>
            </a:pPr>
            <a:r>
              <a:t>HACK FOR SOCIAL CAUSE 2027  ·  MoYAS × IIT BOMBAY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 panose="020B0502040204020203"/>
              </a:defRPr>
            </a:pPr>
            <a:r>
              <a:t>ScamTrap Bharat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0A5FA"/>
                </a:solidFill>
                <a:latin typeface="Segoe UI" panose="020B0502040204020203"/>
              </a:defRPr>
            </a:pPr>
            <a:r>
              <a:t>India's First Active Pre-Fraud Interception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926080"/>
            <a:ext cx="164592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91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C8181"/>
                </a:solidFill>
                <a:latin typeface="Segoe UI" panose="020B0502040204020203"/>
              </a:defRPr>
            </a:pPr>
            <a:r>
              <a:t>₹22,495 Crore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 panose="020B0502040204020203"/>
              </a:defRPr>
            </a:pPr>
            <a:r>
              <a:t>lost by Indians to cyber-fraud in 2025  ·  28.15 lakh complaints  ·  +24% YoY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 panose="020B0502040204020203"/>
              </a:defRPr>
            </a:pPr>
            <a:r>
              <a:t>76% = investment scams  ·  victims pay over DAYS  ·  nobody intercepts BEFORE payment</a:t>
            </a:r>
          </a:p>
        </p:txBody>
      </p:sp>
      <p:pic>
        <p:nvPicPr>
          <p:cNvPr id="22" name="Picture 21" descr="hero_proo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4279" y="1817370"/>
            <a:ext cx="4114800" cy="2571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2960" y="5852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 panose="020B0502040204020203"/>
              </a:defRPr>
            </a:pPr>
            <a:r>
              <a:t>MIT License  ·  Open Source  ·  github.com/VikashJakhar444/ScamTrap_Bharat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1631"/>
                </a:solidFill>
                <a:latin typeface="Segoe UI" panose="020B0502040204020203"/>
              </a:defRPr>
            </a:pPr>
            <a:r>
              <a:t>The Problem: India's Anti-Fraud System is REACTIVE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 panose="020B0502040204020203"/>
              </a:defRPr>
            </a:pPr>
            <a:r>
              <a:t>Every existing tool acts AFTER the money is gone. Nobody stops the payment before it happens.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C59"/>
                </a:solidFill>
                <a:latin typeface="Segoe UI" panose="020B0502040204020203"/>
              </a:defRPr>
            </a:pPr>
            <a:r>
              <a:t>India — Cyber-fraud losses reported per year (₹ Cr)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51990"/>
            <a:ext cx="1463040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2021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772107"/>
            <a:ext cx="694029" cy="2212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8861" y="1751990"/>
            <a:ext cx="731520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₹5,500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54326"/>
            <a:ext cx="1463040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2174443"/>
            <a:ext cx="1299728" cy="2212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4560" y="2154326"/>
            <a:ext cx="731520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₹10,300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56662"/>
            <a:ext cx="1463040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576779"/>
            <a:ext cx="1968520" cy="2212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3352" y="2556662"/>
            <a:ext cx="731520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₹15,600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58998"/>
            <a:ext cx="1463040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2979115"/>
            <a:ext cx="2882746" cy="2212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7578" y="2958998"/>
            <a:ext cx="731520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₹22,845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61334"/>
            <a:ext cx="1463040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381451"/>
            <a:ext cx="2838581" cy="2212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3413" y="3361334"/>
            <a:ext cx="731520" cy="281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₹22,495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 panose="020B0502040204020203"/>
              </a:defRPr>
            </a:pPr>
            <a:r>
              <a:t>Source: NCRP / I4C — MHA Lok Sabha reply, Jul 2026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325880"/>
            <a:ext cx="5029200" cy="822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1325880"/>
            <a:ext cx="4572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389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C59"/>
                </a:solidFill>
                <a:latin typeface="Segoe UI" panose="020B0502040204020203"/>
              </a:defRPr>
            </a:pPr>
            <a:r>
              <a:t>Truecaller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3898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C2626"/>
                </a:solidFill>
                <a:latin typeface="Segoe UI" panose="020B0502040204020203"/>
              </a:defRPr>
            </a:pPr>
            <a:r>
              <a:t>Reactive tagging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6733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Flags numbers AFTER victims lose money. No UPI/bank awareness.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286000"/>
            <a:ext cx="5029200" cy="822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2286000"/>
            <a:ext cx="45720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23500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C59"/>
                </a:solidFill>
                <a:latin typeface="Segoe UI" panose="020B0502040204020203"/>
              </a:defRPr>
            </a:pPr>
            <a:r>
              <a:t>Sanchar Saathi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3500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97706"/>
                </a:solidFill>
                <a:latin typeface="Segoe UI" panose="020B0502040204020203"/>
              </a:defRPr>
            </a:pPr>
            <a:r>
              <a:t>Days-to-weeks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6334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SIM revocation takes days of manual review. Money already moved.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246120"/>
            <a:ext cx="5029200" cy="822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0" y="3246120"/>
            <a:ext cx="4572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33101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2C59"/>
                </a:solidFill>
                <a:latin typeface="Segoe UI" panose="020B0502040204020203"/>
              </a:defRPr>
            </a:pPr>
            <a:r>
              <a:t>1930 Helpline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310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DC2626"/>
                </a:solidFill>
                <a:latin typeface="Segoe UI" panose="020B0502040204020203"/>
              </a:defRPr>
            </a:pPr>
            <a:r>
              <a:t>Post-facto recovery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5935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Works only if victim reports FAST. Most don't know they're being scammed.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29768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434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Segoe UI" panose="020B0502040204020203"/>
              </a:defRPr>
            </a:pPr>
            <a:r>
              <a:t>THE GAP: No tool intercepts the scam BEFORE the victim sends money.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 panose="020B0502040204020203"/>
              </a:defRPr>
            </a:pPr>
            <a:r>
              <a:t>Victims of investment / digital-arrest scams voluntarily transfer money over DAYS. By the time they realise, mule accounts have layered funds across 5+ accounts.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 panose="020B0502040204020203"/>
              </a:defRPr>
            </a:pPr>
            <a:r>
              <a:t>▶  ScamTrap Bharat attacks the problem BEFORE the payment.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1631"/>
                </a:solidFill>
                <a:latin typeface="Segoe UI" panose="020B0502040204020203"/>
              </a:defRPr>
            </a:pPr>
            <a:r>
              <a:t>Solution: 4-Tab Citizen Cyber Safety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 panose="020B0502040204020203"/>
              </a:defRPr>
            </a:pPr>
            <a:r>
              <a:t>Score → Trap → Evidence → Trends. Every step local, every step offline-capable.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713232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0292" cy="10241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990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 panose="020B0502040204020203"/>
              </a:defRPr>
            </a:pPr>
            <a:r>
              <a:t>🔍  Tab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399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 panose="020B0502040204020203"/>
              </a:defRPr>
            </a:pPr>
            <a:r>
              <a:t>Check a Scam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Rules-engine scoring of UPI IDs, phones, bank accounts, WhatsApp text. 5-layer risk analysis with explainable principles.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30552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Segoe UI" panose="020B0502040204020203"/>
              </a:defRPr>
            </a:pPr>
            <a:r>
              <a:t>Zero AI  ·  deterministic  ·  instant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96312"/>
            <a:ext cx="713232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96312"/>
            <a:ext cx="50292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5694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Segoe UI" panose="020B0502040204020203"/>
              </a:defRPr>
            </a:pPr>
            <a:r>
              <a:t>🤖  Tab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569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 panose="020B0502040204020203"/>
              </a:defRPr>
            </a:pPr>
            <a:r>
              <a:t>AI Honeypot Co-Pilot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862072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AI decoy engages scammer in Hinglish, baits them into revealing secondary mule accounts, IFSC codes, beneficiary names.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300984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 panose="020B0502040204020203"/>
              </a:defRPr>
            </a:pPr>
            <a:r>
              <a:t>Ollama offline  ·  cloud optional  ·  rules fallback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66744"/>
            <a:ext cx="713232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66744"/>
            <a:ext cx="50292" cy="10241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398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Segoe UI" panose="020B0502040204020203"/>
              </a:defRPr>
            </a:pPr>
            <a:r>
              <a:t>📄  Tab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739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 panose="020B0502040204020203"/>
              </a:defRPr>
            </a:pPr>
            <a:r>
              <a:t>Evidence &amp;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032504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1-click NCRP-format complaint PDF with SHA-256 hash, Section 63 BSA certificate, kill-chain visualisation, freeze-request draft.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471416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Segoe UI" panose="020B0502040204020203"/>
              </a:defRPr>
            </a:pPr>
            <a:r>
              <a:t>ReportLab  ·  court-admissible  ·  hash-sealed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37176"/>
            <a:ext cx="713232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37176"/>
            <a:ext cx="50292" cy="10241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9103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Segoe UI" panose="020B0502040204020203"/>
              </a:defRPr>
            </a:pPr>
            <a:r>
              <a:t>📊  Tab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9103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 panose="020B0502040204020203"/>
              </a:defRPr>
            </a:pPr>
            <a:r>
              <a:t>Trends &amp; Compare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202936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Real national data (I4C / NCRP / FBI IC3). India vs World, state hotspots, gap analysis vs Truecaller / Sanchar Saathi.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641848"/>
            <a:ext cx="6583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Segoe UI" panose="020B0502040204020203"/>
              </a:defRPr>
            </a:pPr>
            <a:r>
              <a:t>Official govt sources  ·  cited  ·  no estimates</a:t>
            </a:r>
          </a:p>
        </p:txBody>
      </p:sp>
      <p:pic>
        <p:nvPicPr>
          <p:cNvPr id="29" name="Picture 28" descr="payment_c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371600"/>
            <a:ext cx="3657600" cy="2286000"/>
          </a:xfrm>
          <a:prstGeom prst="rect">
            <a:avLst/>
          </a:prstGeom>
        </p:spPr>
      </p:pic>
      <p:pic>
        <p:nvPicPr>
          <p:cNvPr id="30" name="Picture 29" descr="tab4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931920"/>
            <a:ext cx="3657600" cy="11518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1631"/>
                </a:solidFill>
                <a:latin typeface="Segoe UI" panose="020B0502040204020203"/>
              </a:defRPr>
            </a:pPr>
            <a:r>
              <a:t>Architecture: Offline-First, Zero-Dependency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 panose="020B0502040204020203"/>
              </a:defRPr>
            </a:pPr>
            <a:r>
              <a:t>Works without internet, without API keys, without any cloud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560320" cy="21945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5603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Segoe UI" panose="020B0502040204020203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WhatsApp text</a:t>
            </a:r>
            <a:br/>
            <a:r>
              <a:t>UPI / Phone / QR</a:t>
            </a:r>
            <a:br/>
            <a:r>
              <a:t>Screenshot</a:t>
            </a:r>
            <a:br/>
            <a:r>
              <a:t>Voice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94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Segoe UI" panose="020B0502040204020203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371600"/>
            <a:ext cx="2560320" cy="2194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371600"/>
            <a:ext cx="2560320" cy="457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2C59"/>
                </a:solidFill>
                <a:latin typeface="Segoe UI" panose="020B0502040204020203"/>
              </a:defRPr>
            </a:pPr>
            <a:r>
              <a:t>RULES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5-layer scoring</a:t>
            </a:r>
            <a:br/>
            <a:r>
              <a:t>Pattern matching</a:t>
            </a:r>
            <a:br/>
            <a:r>
              <a:t>Entity extraction</a:t>
            </a:r>
            <a:br/>
            <a:r>
              <a:t>Risk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94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Segoe UI" panose="020B0502040204020203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371600"/>
            <a:ext cx="2560320" cy="21945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1371600"/>
            <a:ext cx="256032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19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Segoe UI" panose="020B0502040204020203"/>
              </a:defRPr>
            </a:pPr>
            <a:r>
              <a:t>AI DECOY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19" y="187451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Ollama offline LLM</a:t>
            </a:r>
            <a:br/>
            <a:r>
              <a:t>Groq/Gemini fallback</a:t>
            </a:r>
            <a:br/>
            <a:r>
              <a:t>Hinglish persona</a:t>
            </a:r>
            <a:br/>
            <a:r>
              <a:t>Mule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79" y="2194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4A3B8"/>
                </a:solidFill>
                <a:latin typeface="Segoe UI" panose="020B0502040204020203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1371600"/>
            <a:ext cx="2560320" cy="21945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19" y="1371600"/>
            <a:ext cx="256032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79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Segoe UI" panose="020B0502040204020203"/>
              </a:defRPr>
            </a:pPr>
            <a: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79" y="1874519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NCRP PDF</a:t>
            </a:r>
            <a:br/>
            <a:r>
              <a:t>SHA-256 hash</a:t>
            </a:r>
            <a:br/>
            <a:r>
              <a:t>Sec 63 BSA cert</a:t>
            </a:r>
            <a:br/>
            <a:r>
              <a:t>Freeze draft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404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776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 panose="020B0502040204020203"/>
              </a:defRPr>
            </a:pPr>
            <a:r>
              <a:t>Tech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43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343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FastAPI + SQLite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343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343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Vanilla JS + CSS design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46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846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Ollama (deepseek-r1) · Groq · Gemini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846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8463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ReportLab + SHA-256 integrity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WhatsApp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349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whatsapp-web.js 2-phone bridge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349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i18n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349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English + Hindi (519 keys)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 panose="020B0502040204020203"/>
              </a:defRPr>
            </a:pPr>
            <a:r>
              <a:t>Live Application</a:t>
            </a:r>
          </a:p>
        </p:txBody>
      </p:sp>
      <p:pic>
        <p:nvPicPr>
          <p:cNvPr id="39" name="Picture 38" descr="shot_deskto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251960"/>
            <a:ext cx="5212080" cy="96532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1631"/>
                </a:solidFill>
                <a:latin typeface="Segoe UI" panose="020B0502040204020203"/>
              </a:defRPr>
            </a:pPr>
            <a:r>
              <a:t>Impact &amp;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5029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2395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C59"/>
                </a:solidFill>
                <a:latin typeface="Segoe UI" panose="020B0502040204020203"/>
              </a:defRPr>
            </a:pPr>
            <a:r>
              <a:t>₹22,495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Lost by Indians</a:t>
            </a:r>
            <a:br/>
            <a:r>
              <a:t>cyber-fraud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9601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960120"/>
            <a:ext cx="5029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051560"/>
            <a:ext cx="2395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C59"/>
                </a:solidFill>
                <a:latin typeface="Segoe UI" panose="020B0502040204020203"/>
              </a:defRPr>
            </a:pPr>
            <a:r>
              <a:t>76%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490472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Investment scams</a:t>
            </a:r>
            <a:br/>
            <a:r>
              <a:t>(pre-payment)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9601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960120"/>
            <a:ext cx="5029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1" y="1051560"/>
            <a:ext cx="2395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C59"/>
                </a:solidFill>
                <a:latin typeface="Segoe UI" panose="020B0502040204020203"/>
              </a:defRPr>
            </a:pPr>
            <a:r>
              <a:t>₹11,158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1490472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Saved by 1930 helpline</a:t>
            </a:r>
            <a:br/>
            <a:r>
              <a:t>(AFTER report)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96012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19" y="960120"/>
            <a:ext cx="5029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54311" y="1051560"/>
            <a:ext cx="23957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2C59"/>
                </a:solidFill>
                <a:latin typeface="Segoe UI" panose="020B0502040204020203"/>
              </a:defRPr>
            </a:pPr>
            <a:r>
              <a:t>32.8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4311" y="1490472"/>
            <a:ext cx="2395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CFCFRMS complaints</a:t>
            </a:r>
            <a:br/>
            <a:r>
              <a:t>till Jun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 panose="020B0502040204020203"/>
              </a:defRPr>
            </a:pPr>
            <a:r>
              <a:t>What Indians Lost To (2025)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743200"/>
            <a:ext cx="5303520" cy="365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743200"/>
            <a:ext cx="4030675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9315" y="2743200"/>
            <a:ext cx="477316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56631" y="2743200"/>
            <a:ext cx="21214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68771" y="2743200"/>
            <a:ext cx="583387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282696"/>
            <a:ext cx="109728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Investment / crypto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282696"/>
            <a:ext cx="109728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Digital arrest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557015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5204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Sextortion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557015"/>
            <a:ext cx="109728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5204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All others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2C59"/>
                </a:solidFill>
                <a:latin typeface="Segoe UI" panose="020B0502040204020203"/>
              </a:defRPr>
            </a:pPr>
            <a:r>
              <a:t>India — Top Cybercrime States (2024)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47057"/>
            <a:ext cx="1463040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Telangana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4363516"/>
            <a:ext cx="2697403" cy="18105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82235" y="4347057"/>
            <a:ext cx="731520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27,230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76241"/>
            <a:ext cx="1463040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Uttar Pradesh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4692700"/>
            <a:ext cx="1096891" cy="18105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81723" y="4676241"/>
            <a:ext cx="731520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11,073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005425"/>
            <a:ext cx="1463040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Maharashtra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11680" y="5021884"/>
            <a:ext cx="1010412" cy="18105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95244" y="5005425"/>
            <a:ext cx="731520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10,200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334609"/>
            <a:ext cx="1463040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Karnataka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5351068"/>
            <a:ext cx="845972" cy="18105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30804" y="5334609"/>
            <a:ext cx="731520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8,540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663793"/>
            <a:ext cx="1463040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 panose="020B0502040204020203"/>
              </a:defRPr>
            </a:pPr>
            <a:r>
              <a:t>Delhi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0" y="5680252"/>
            <a:ext cx="615162" cy="18105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99994" y="5663793"/>
            <a:ext cx="731520" cy="230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6,210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23774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Segoe UI" panose="020B0502040204020203"/>
              </a:defRPr>
            </a:pPr>
            <a:r>
              <a:t>Why ScamTrap Changes the Game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28803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•  India excels at POST-FACTO recovery — but 76% losses are PRE-payment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•  1930 can't help if victim doesn't know they're being scammed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•  ScamTrap intercepts BEFORE payment — unique in India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60" y="4389120"/>
            <a:ext cx="5303520" cy="15544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4526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Segoe UI" panose="020B0502040204020203"/>
              </a:defRPr>
            </a:pPr>
            <a:r>
              <a:t>Scalability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48920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•  Runs on ANY laptop — no server, no cloud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•  Offline-first — works in rural / low-connectivity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•  Open-source — state police can fork &amp; deploy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•  Multi-language — English + Hindi, extensible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 panose="020B0502040204020203"/>
              </a:defRPr>
            </a:pPr>
            <a:r>
              <a:t>Sources: MHA / NCRP / I4C (Lok Sabha reply Jul 2026)  ·  FBI IC3 2025 Annual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1631"/>
                </a:solidFill>
                <a:latin typeface="Segoe UI" panose="020B0502040204020203"/>
              </a:defRPr>
            </a:pPr>
            <a:r>
              <a:t>Implementation &amp; AI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 panose="020B0502040204020203"/>
              </a:defRPr>
            </a:pPr>
            <a:r>
              <a:t>HSC 2027 requirement: all AI tool usage disclosed with proportion estimate.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2C59"/>
                </a:solidFill>
                <a:latin typeface="Segoe UI" panose="020B0502040204020203"/>
              </a:defRPr>
            </a:pPr>
            <a:r>
              <a:t>Implementation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✓  4-tab web portal (fully functional)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✓  Rules-engine scam detection (5 layers)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✓  AI decoy conversation (offline LLM)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✓  1-click NCRP PDF with SHA-256 hash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✓  WhatsApp 2-phone honeypot bridge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✓  English + Hindi (519 i18n keys)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✓  MIT License, fully open-source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✓  6/6 automated smoke tests passing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 panose="020B0502040204020203"/>
              </a:defRPr>
            </a:pPr>
            <a:r>
              <a:t>✓  Real government data (I4C/NCRP/IC3)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Segoe UI" panose="020B0502040204020203"/>
              </a:defRPr>
            </a:pPr>
            <a:r>
              <a:t>🤖  AI Tool Disclosure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911095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7451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Scam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NO AI — deterministic rules-engine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0" y="2258567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22199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Decoy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219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YES — Ollama offline LLM (primary)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2606039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56946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Cloud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5694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Groq / Gemini optional, off by default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2953512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9169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Image OCR / QR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9169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Gemini vision (optional) + OpenCV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3300984"/>
            <a:ext cx="91440" cy="9144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2644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Audio STT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644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Gemini (optional), graceful degradation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3648455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61187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PDF /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61187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NO AI — template-based ReportLab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99592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959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 panose="020B0502040204020203"/>
              </a:defRPr>
            </a:pPr>
            <a:r>
              <a:t>Trends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959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NO AI — official govt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5488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071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 panose="020B0502040204020203"/>
              </a:defRPr>
            </a:pPr>
            <a:r>
              <a:t>Proportion of AI-assisted work: ~15% (decoy conversation engine only).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257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 panose="020B0502040204020203"/>
              </a:defRPr>
            </a:pPr>
            <a:r>
              <a:t>All detection, evidence generation, and analytics are deterministic and offline-capable. No user data is sent to third-party AI services in default (offline) mode.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2396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2980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3564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3856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4148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84732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 panose="020B0502040204020203"/>
              </a:defRPr>
            </a:pPr>
            <a:r>
              <a:t>Team &amp; Vision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118872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0B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1188720"/>
            <a:ext cx="3383280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1417320"/>
            <a:ext cx="457200" cy="4572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1444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 panose="020B0502040204020203"/>
              </a:defRPr>
            </a:pPr>
            <a: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Vikash Jakhar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16916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Segoe UI" panose="020B0502040204020203"/>
              </a:defRPr>
            </a:pPr>
            <a:r>
              <a:t>Team Leader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 panose="020B0502040204020203"/>
              </a:defRPr>
            </a:pPr>
            <a:r>
              <a:t>Apex University, Jaipur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B.Tech Cybersecurity · 3rd Year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118872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0B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1188720"/>
            <a:ext cx="338328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63440" y="141732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1444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 panose="020B0502040204020203"/>
              </a:defRPr>
            </a:pPr>
            <a: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Anisha Kuldeep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16916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Segoe UI" panose="020B0502040204020203"/>
              </a:defRPr>
            </a:pPr>
            <a:r>
              <a:t>Member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 panose="020B0502040204020203"/>
              </a:defRPr>
            </a:pPr>
            <a:r>
              <a:t>Rajasthan Institute of Engineering &amp; Technology, Jaipur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B.Tech CSE · 3rd Year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118872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0B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1188720"/>
            <a:ext cx="338328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21040" y="1417320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1444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 panose="020B0502040204020203"/>
              </a:defRPr>
            </a:pPr>
            <a:r>
              <a:t>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1417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Navnit Kumar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16916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Segoe UI" panose="020B0502040204020203"/>
              </a:defRPr>
            </a:pPr>
            <a:r>
              <a:t>Member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103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 panose="020B0502040204020203"/>
              </a:defRPr>
            </a:pPr>
            <a:r>
              <a:t>Apex University, Jaipur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 panose="020B0502040204020203"/>
              </a:defRPr>
            </a:pPr>
            <a:r>
              <a:t>BCA Cyber Security &amp; Cyber Forensic · 3rd Year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Segoe UI" panose="020B0502040204020203"/>
              </a:defRPr>
            </a:pPr>
            <a:r>
              <a:t>Roadmap</a:t>
            </a:r>
          </a:p>
        </p:txBody>
      </p:sp>
      <p:sp>
        <p:nvSpPr>
          <p:cNvPr id="41" name="Oval 40"/>
          <p:cNvSpPr/>
          <p:nvPr/>
        </p:nvSpPr>
        <p:spPr>
          <a:xfrm>
            <a:off x="1828800" y="3749039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93392" y="3813048"/>
            <a:ext cx="2670048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Segoe UI" panose="020B0502040204020203"/>
              </a:defRPr>
            </a:pPr>
            <a:r>
              <a:t>NOW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297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 panose="020B0502040204020203"/>
              </a:defRPr>
            </a:pPr>
            <a:r>
              <a:t>Working prototype</a:t>
            </a:r>
            <a:br/>
            <a:r>
              <a:t>4 tabs, offline-first</a:t>
            </a:r>
            <a:br/>
            <a:r>
              <a:t>MIT licensed</a:t>
            </a:r>
          </a:p>
        </p:txBody>
      </p:sp>
      <p:sp>
        <p:nvSpPr>
          <p:cNvPr id="45" name="Oval 44"/>
          <p:cNvSpPr/>
          <p:nvPr/>
        </p:nvSpPr>
        <p:spPr>
          <a:xfrm>
            <a:off x="4663440" y="3749039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28032" y="3813048"/>
            <a:ext cx="2670048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0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Segoe UI" panose="020B0502040204020203"/>
              </a:defRPr>
            </a:pPr>
            <a:r>
              <a:t>Phase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4297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 panose="020B0502040204020203"/>
              </a:defRPr>
            </a:pPr>
            <a:r>
              <a:t>State police pilot</a:t>
            </a:r>
            <a:br/>
            <a:r>
              <a:t>NCRP API integration</a:t>
            </a:r>
            <a:br/>
            <a:r>
              <a:t>Regional languages</a:t>
            </a:r>
          </a:p>
        </p:txBody>
      </p:sp>
      <p:sp>
        <p:nvSpPr>
          <p:cNvPr id="49" name="Oval 48"/>
          <p:cNvSpPr/>
          <p:nvPr/>
        </p:nvSpPr>
        <p:spPr>
          <a:xfrm>
            <a:off x="7498080" y="3749039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62672" y="3813048"/>
            <a:ext cx="2670048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97706"/>
                </a:solidFill>
                <a:latin typeface="Segoe UI" panose="020B0502040204020203"/>
              </a:defRPr>
            </a:pPr>
            <a:r>
              <a:t>Phase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297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 panose="020B0502040204020203"/>
              </a:defRPr>
            </a:pPr>
            <a:r>
              <a:t>Mobile app (Android)</a:t>
            </a:r>
            <a:br/>
            <a:r>
              <a:t>Bank partnership for</a:t>
            </a:r>
            <a:br/>
            <a:r>
              <a:t>real-time freeze</a:t>
            </a:r>
          </a:p>
        </p:txBody>
      </p:sp>
      <p:sp>
        <p:nvSpPr>
          <p:cNvPr id="53" name="Oval 52"/>
          <p:cNvSpPr/>
          <p:nvPr/>
        </p:nvSpPr>
        <p:spPr>
          <a:xfrm>
            <a:off x="10332720" y="3749039"/>
            <a:ext cx="164592" cy="164592"/>
          </a:xfrm>
          <a:prstGeom prst="ellipse">
            <a:avLst/>
          </a:prstGeom>
          <a:solidFill>
            <a:srgbClr val="FC8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0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C8181"/>
                </a:solidFill>
                <a:latin typeface="Segoe UI" panose="020B0502040204020203"/>
              </a:defRPr>
            </a:pPr>
            <a:r>
              <a:t>Phase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42976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Segoe UI" panose="020B0502040204020203"/>
              </a:defRPr>
            </a:pPr>
            <a:r>
              <a:t>National rollout</a:t>
            </a:r>
            <a:br/>
            <a:r>
              <a:t>24 official languages</a:t>
            </a:r>
            <a:br/>
            <a:r>
              <a:t>API for NGOs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" y="521208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5349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C8181"/>
                </a:solidFill>
                <a:latin typeface="Segoe UI" panose="020B0502040204020203"/>
              </a:defRPr>
            </a:pPr>
            <a:r>
              <a:t>The Cost of Inaction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 panose="020B0502040204020203"/>
              </a:defRPr>
            </a:pPr>
            <a:r>
              <a:t>Every day without pre-fraud interception, Indians lose ₹60+ crore. ScamTrap turns every citizen from a passive target into an active investigator.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 panose="020B0502040204020203"/>
              </a:defRPr>
            </a:pPr>
            <a:r>
              <a:t>github.com/VikashJakhar444/ScamTrap_Bharat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 panose="020B0502040204020203"/>
              </a:defRPr>
            </a:pPr>
            <a:r>
              <a:t>Hack for Social Cause 2027  ·  MIT  ·  Open Source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5434</Words>
  <Application>WPS Presentation</Application>
  <PresentationFormat>On-screen Show (4:3)</PresentationFormat>
  <Paragraphs>329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vikas</cp:lastModifiedBy>
  <cp:revision>3</cp:revision>
  <dcterms:created xsi:type="dcterms:W3CDTF">2013-01-27T09:14:00Z</dcterms:created>
  <dcterms:modified xsi:type="dcterms:W3CDTF">2026-10-11T09:19:36Z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A7EFD5E2B4C44C82921E4D6538EE405B_12</vt:lpwstr>
  </property>
</Properties>
</file>