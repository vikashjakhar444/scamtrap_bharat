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1812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32104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82396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32688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82980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33272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83564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33856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84148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34440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847320" y="0"/>
            <a:ext cx="9144" cy="6858000"/>
          </a:xfrm>
          <a:prstGeom prst="rect">
            <a:avLst/>
          </a:prstGeom>
          <a:solidFill>
            <a:srgbClr val="0B22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HACK FOR SOCIAL CAUSE 2027  ·  MoYAS × IIT BOMBAY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ScamTrap Bharat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783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0A5FA"/>
                </a:solidFill>
                <a:latin typeface="Segoe UI"/>
              </a:defRPr>
            </a:pPr>
            <a:r>
              <a:t>India's First Active Pre-Fraud Interception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331720"/>
            <a:ext cx="13716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Theme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Cyber Safety &amp; Digital Fraud Prevention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154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Team 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154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Team Valora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Team 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HSC|RJ|00111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State / 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Rajasthan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663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Segoe UI"/>
              </a:defRPr>
            </a:pPr>
            <a:r>
              <a:t>Institution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Apex Institute of Engineering &amp; Technology, Jaipur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3035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C8181"/>
                </a:solidFill>
                <a:latin typeface="Segoe UI"/>
              </a:defRPr>
            </a:pPr>
            <a:r>
              <a:t>₹22,495 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lost by Indians to cyber-fraud in 2025  ·  28.15 lakh complaints</a:t>
            </a:r>
          </a:p>
        </p:txBody>
      </p:sp>
      <p:pic>
        <p:nvPicPr>
          <p:cNvPr id="31" name="Picture 30" descr="hero_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240280"/>
            <a:ext cx="3931920" cy="245745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6CBE709-AAD9-9467-D5B3-C0148D0B8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3" y="156149"/>
            <a:ext cx="1407535" cy="6779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137160"/>
            <a:ext cx="10058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0116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Team</a:t>
            </a:r>
            <a:br/>
            <a:r>
              <a:t>Valora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2C59"/>
                </a:solidFill>
                <a:latin typeface="Segoe UI"/>
              </a:defRPr>
            </a:pPr>
            <a:r>
              <a:t>Problem –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@HSC submission - Team Valora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737" y="125501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  <a:latin typeface="Segoe UI"/>
              </a:defRPr>
            </a:pPr>
            <a:r>
              <a:rPr dirty="0"/>
              <a:t>🔴 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Indians lost ₹22,495 Cr in 2025 to cyber-fraud (28.15 lakh complaints, +24% YoY)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76% = investment / digital-arrest scams — victims pay over DAYS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Elderly, first-time digital users, rural populations are most affected</a:t>
            </a:r>
          </a:p>
          <a:p>
            <a:pPr>
              <a:spcBef>
                <a:spcPts val="200"/>
              </a:spcBef>
              <a:defRPr sz="6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Existing tools fail because they are REACTIVE: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Truecaller</a:t>
            </a:r>
            <a:r>
              <a:rPr dirty="0"/>
              <a:t> — flags numbers AFTER money is gone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Sanchar Saathi — SIM revocation takes days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1930 helpline — only works if victim reports FAST</a:t>
            </a:r>
          </a:p>
          <a:p>
            <a:pPr>
              <a:spcBef>
                <a:spcPts val="200"/>
              </a:spcBef>
              <a:defRPr sz="6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200" b="1">
                <a:solidFill>
                  <a:srgbClr val="DC2626"/>
                </a:solidFill>
                <a:latin typeface="Segoe UI"/>
              </a:defRPr>
            </a:pPr>
            <a:r>
              <a:rPr dirty="0"/>
              <a:t>NO tool in India intercepts the scam BEFORE the victim pays.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2737" y="4327399"/>
            <a:ext cx="5303520" cy="7315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572763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2626"/>
                </a:solidFill>
                <a:latin typeface="Segoe UI"/>
              </a:defRPr>
            </a:pPr>
            <a:r>
              <a:t>THE GAP: Pre-fraud interception — not post-facto 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/>
              </a:defRPr>
            </a:pPr>
            <a:r>
              <a:t>India — Cyber-fraud losses (₹ Cr)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90972"/>
            <a:ext cx="1371600" cy="23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2023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5507736"/>
            <a:ext cx="1740286" cy="1844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3678" y="5490972"/>
            <a:ext cx="731520" cy="23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/>
              </a:defRPr>
            </a:pPr>
            <a:r>
              <a:t>15.6K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26252"/>
            <a:ext cx="1371600" cy="23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5843016"/>
            <a:ext cx="2548515" cy="1844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41907" y="5826252"/>
            <a:ext cx="731520" cy="23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/>
              </a:defRPr>
            </a:pPr>
            <a:r>
              <a:t>22.8K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61532"/>
            <a:ext cx="1371600" cy="23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6178296"/>
            <a:ext cx="2509470" cy="18440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02862" y="6161532"/>
            <a:ext cx="731520" cy="23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2C59"/>
                </a:solidFill>
                <a:latin typeface="Segoe UI"/>
              </a:defRPr>
            </a:pPr>
            <a:r>
              <a:t>22.5K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2573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Segoe UI"/>
              </a:defRPr>
            </a:pPr>
            <a:r>
              <a:rPr dirty="0"/>
              <a:t>🟢  Our Solution — </a:t>
            </a:r>
            <a:r>
              <a:rPr dirty="0" err="1"/>
              <a:t>ScamTrap</a:t>
            </a:r>
            <a:r>
              <a:rPr dirty="0"/>
              <a:t> Bharat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4-tab offline-first cyber safety portal that intercepts scams BEFORE payment:</a:t>
            </a:r>
          </a:p>
          <a:p>
            <a:pPr>
              <a:spcBef>
                <a:spcPts val="200"/>
              </a:spcBef>
              <a:defRPr sz="6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🔍  Check a Scam — instant rules-engine scoring of UPI / phone / text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🤖  AI Honeypot — offline LLM baits scammers into revealing mule accounts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📄  Evidence &amp; PDF — one-click NCRP complaint with SHA-256 hash + Sec 63 BSA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📊  Trends &amp; Compare — real I4C / NCRP / IC3 data, India vs World</a:t>
            </a:r>
          </a:p>
          <a:p>
            <a:pPr>
              <a:spcBef>
                <a:spcPts val="200"/>
              </a:spcBef>
              <a:defRPr sz="8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200" b="1">
                <a:solidFill>
                  <a:srgbClr val="0F2C59"/>
                </a:solidFill>
                <a:latin typeface="Segoe UI"/>
              </a:defRPr>
            </a:pPr>
            <a:r>
              <a:rPr dirty="0"/>
              <a:t>Innovation &amp; Uniqueness:</a:t>
            </a:r>
          </a:p>
          <a:p>
            <a:pPr>
              <a:spcBef>
                <a:spcPts val="200"/>
              </a:spcBef>
              <a:defRPr sz="1100" b="1">
                <a:solidFill>
                  <a:srgbClr val="059669"/>
                </a:solidFill>
                <a:latin typeface="Segoe UI"/>
              </a:defRPr>
            </a:pPr>
            <a:r>
              <a:rPr dirty="0"/>
              <a:t>✓  ONLY tool in India that catches scams BEFORE money moves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✓  100% offline — works on any laptop without internet or cloud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✓  AI decoy actively baits scammers to expose their mule network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✓  Court-admissible evidence with cryptographic integrity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E703D63-A9A0-5D43-2484-A12A5D92B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156149"/>
            <a:ext cx="1407535" cy="6779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137160"/>
            <a:ext cx="10058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0116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Team</a:t>
            </a:r>
            <a:br/>
            <a:r>
              <a:t>Valora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2C59"/>
                </a:solidFill>
                <a:latin typeface="Segoe UI"/>
              </a:defRPr>
            </a:pPr>
            <a: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@HSC submission - Team Valora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80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FastAPI</a:t>
            </a:r>
            <a:br/>
            <a:r>
              <a:t>+ SQLite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96012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0" y="960120"/>
            <a:ext cx="201168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40" y="1051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59669"/>
                </a:solidFill>
                <a:latin typeface="Segoe UI"/>
              </a:defRPr>
            </a:pPr>
            <a:r>
              <a:t>AI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280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Ollama</a:t>
            </a:r>
            <a:br/>
            <a:r>
              <a:t>(deepseek-r1)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96012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0" y="960120"/>
            <a:ext cx="2011680" cy="3657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1051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2C59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280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Vanilla JS</a:t>
            </a:r>
            <a:br/>
            <a:r>
              <a:t>+ CSS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96012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0" y="960120"/>
            <a:ext cx="201168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1051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Segoe UI"/>
              </a:defRPr>
            </a:pPr>
            <a:r>
              <a:t>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1280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ReportLab</a:t>
            </a:r>
            <a:br/>
            <a:r>
              <a:t>+ SHA-256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960120"/>
            <a:ext cx="2011680" cy="96012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01200" y="960120"/>
            <a:ext cx="201168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0" y="1051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WhatsApp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1280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whatsapp</a:t>
            </a:r>
            <a:br/>
            <a:r>
              <a:t>-web.js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/>
              </a:defRPr>
            </a:pPr>
            <a:r>
              <a:t>Implementation Flow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423160"/>
            <a:ext cx="2560320" cy="15087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2423160"/>
            <a:ext cx="2560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2514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788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WhatsApp text</a:t>
            </a:r>
            <a:br/>
            <a:r>
              <a:t>UPI / Phone / QR</a:t>
            </a:r>
            <a:br/>
            <a:r>
              <a:t>Screenshot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2423160"/>
            <a:ext cx="2560320" cy="15087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337560" y="2423160"/>
            <a:ext cx="2560320" cy="36576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29000" y="2514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F2C59"/>
                </a:solidFill>
                <a:latin typeface="Segoe UI"/>
              </a:defRPr>
            </a:pPr>
            <a:r>
              <a:t>ANALYZE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29000" y="2788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5-layer rules</a:t>
            </a:r>
            <a:br/>
            <a:r>
              <a:t>entity extraction</a:t>
            </a:r>
            <a:br/>
            <a:r>
              <a:t>risk scoring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2423160"/>
            <a:ext cx="2560320" cy="15087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17920" y="2423160"/>
            <a:ext cx="256032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2514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DECOY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788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offline LLM</a:t>
            </a:r>
            <a:br/>
            <a:r>
              <a:t>Hinglish persona</a:t>
            </a:r>
            <a:br/>
            <a:r>
              <a:t>mule extraction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4A3B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2423160"/>
            <a:ext cx="2560320" cy="150876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098280" y="2423160"/>
            <a:ext cx="25603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89720" y="2514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EVIDENCE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2788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NCRP PDF</a:t>
            </a:r>
            <a:br/>
            <a:r>
              <a:t>SHA-256 hash</a:t>
            </a:r>
            <a:br/>
            <a:r>
              <a:t>Sec 63 BSA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/>
              </a:defRPr>
            </a:pPr>
            <a:r>
              <a:t>Repository &amp; Resources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4434840"/>
            <a:ext cx="5303520" cy="14630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1520" y="452628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1">
                <a:solidFill>
                  <a:srgbClr val="0F2C59"/>
                </a:solidFill>
                <a:latin typeface="Segoe UI"/>
              </a:defRPr>
            </a:pPr>
            <a:r>
              <a:rPr dirty="0"/>
              <a:t>GitHub:</a:t>
            </a:r>
          </a:p>
          <a:p>
            <a:pPr>
              <a:spcBef>
                <a:spcPts val="200"/>
              </a:spcBef>
              <a:defRPr sz="1100" b="0">
                <a:solidFill>
                  <a:srgbClr val="2563EB"/>
                </a:solidFill>
                <a:latin typeface="Segoe UI"/>
              </a:defRPr>
            </a:pPr>
            <a:r>
              <a:rPr dirty="0"/>
              <a:t>github.com/VikashJakhar444/</a:t>
            </a:r>
            <a:r>
              <a:rPr dirty="0" err="1"/>
              <a:t>ScamTrap_Bharat</a:t>
            </a:r>
            <a:endParaRPr dirty="0"/>
          </a:p>
          <a:p>
            <a:pPr>
              <a:spcBef>
                <a:spcPts val="200"/>
              </a:spcBef>
              <a:defRPr sz="6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README with setup steps &amp; env variables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Architecture docs, sample data, test cases (6/6 passing)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MIT License — fully open-source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26480" y="443484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09360" y="452628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🤖  Extent of AI Tool Usage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80060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 b="0">
                <a:solidFill>
                  <a:srgbClr val="059669"/>
                </a:solidFill>
                <a:latin typeface="Segoe UI"/>
              </a:defRPr>
            </a:pPr>
            <a:r>
              <a:t>✓  Scam Detection — NO AI (deterministic rules-engine)</a:t>
            </a:r>
          </a:p>
          <a:p>
            <a:pPr>
              <a:spcBef>
                <a:spcPts val="200"/>
              </a:spcBef>
              <a:defRPr sz="1000" b="0">
                <a:solidFill>
                  <a:srgbClr val="D97706"/>
                </a:solidFill>
                <a:latin typeface="Segoe UI"/>
              </a:defRPr>
            </a:pPr>
            <a:r>
              <a:t>✓  Decoy Chat — Ollama offline LLM (primary, ~15% of codebase)</a:t>
            </a:r>
          </a:p>
          <a:p>
            <a:pPr>
              <a:spcBef>
                <a:spcPts val="200"/>
              </a:spcBef>
              <a:defRPr sz="1000" b="0">
                <a:solidFill>
                  <a:srgbClr val="64748B"/>
                </a:solidFill>
                <a:latin typeface="Segoe UI"/>
              </a:defRPr>
            </a:pPr>
            <a:r>
              <a:t>✓  Cloud Fallback — Groq / Gemini (optional, off by default)</a:t>
            </a:r>
          </a:p>
          <a:p>
            <a:pPr>
              <a:spcBef>
                <a:spcPts val="200"/>
              </a:spcBef>
              <a:defRPr sz="1000" b="0">
                <a:solidFill>
                  <a:srgbClr val="059669"/>
                </a:solidFill>
                <a:latin typeface="Segoe UI"/>
              </a:defRPr>
            </a:pPr>
            <a:r>
              <a:t>✓  PDF / Evidence — NO AI (template-based ReportLab)</a:t>
            </a:r>
          </a:p>
          <a:p>
            <a:pPr>
              <a:spcBef>
                <a:spcPts val="200"/>
              </a:spcBef>
              <a:defRPr sz="1000" b="0">
                <a:solidFill>
                  <a:srgbClr val="059669"/>
                </a:solidFill>
                <a:latin typeface="Segoe UI"/>
              </a:defRPr>
            </a:pPr>
            <a:r>
              <a:t>✓  Trends Dashboard — NO AI (official govt data)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03504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rPr dirty="0"/>
              <a:t>— working prototype available at GitHub repository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426863F9-AEF1-E4BE-FB04-34D87DE07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156149"/>
            <a:ext cx="1407535" cy="6779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137160"/>
            <a:ext cx="10058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0116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Team</a:t>
            </a:r>
            <a:br/>
            <a:r>
              <a:t>Valora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2C59"/>
                </a:solidFill>
                <a:latin typeface="Segoe UI"/>
              </a:defRPr>
            </a:pPr>
            <a:r>
              <a:t>Impact Potential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@HSC submission - Team Valora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45720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2C59"/>
                </a:solidFill>
                <a:latin typeface="Segoe UI"/>
              </a:defRPr>
            </a:pPr>
            <a:r>
              <a:t>₹22,495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Annual loss to</a:t>
            </a:r>
            <a:br/>
            <a:r>
              <a:t>Indian citizens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96012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960120"/>
            <a:ext cx="45720" cy="1051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02152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2C59"/>
                </a:solidFill>
                <a:latin typeface="Segoe UI"/>
              </a:defRPr>
            </a:pPr>
            <a:r>
              <a:t>76%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Scams are pre-payment</a:t>
            </a:r>
            <a:br/>
            <a:r>
              <a:t>(interception window)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96012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960120"/>
            <a:ext cx="45720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2C59"/>
                </a:solidFill>
                <a:latin typeface="Segoe UI"/>
              </a:defRPr>
            </a:pPr>
            <a:r>
              <a:t>₹60+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Lost every single day</a:t>
            </a:r>
            <a:br/>
            <a:r>
              <a:t>without interception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96012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98280" y="960120"/>
            <a:ext cx="45720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62872" y="1024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2C59"/>
                </a:solidFill>
                <a:latin typeface="Segoe UI"/>
              </a:defRPr>
            </a:pPr>
            <a:r>
              <a:t>10 Cr+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Potential beneficiaries</a:t>
            </a:r>
            <a:br/>
            <a:r>
              <a:t>(elderly + rural users)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240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/>
              </a:defRPr>
            </a:pPr>
            <a:r>
              <a:t>Impact on Target Audience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5603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👵  Elderly Citizens — verify suspicious calls/texts before paying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👩‍💻  First-time digital users — instant second opinion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🏠  Rural populations — works offline, no internet needed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👨‍💼  Professionals — AI honeypot traps scammers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/>
              </a:defRPr>
            </a:pPr>
            <a:r>
              <a:t>Benefits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💰  Economic — saves crores by preventing fraud before payment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🏛  Social — builds digital trust, protects vulnerable communities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⚖  Legal — court-admissible evidence, faster police action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🌍  National — reduces burden on 1930 helpline &amp; cyber cells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240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/>
              </a:defRPr>
            </a:pPr>
            <a:r>
              <a:t>Stakeholders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5603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👨‍🚒  State Police &amp; Cyber Cells — ready-to-file evidence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🏥  Banking &amp; Fintech — real-time fraud alerts integration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🏫  Schools &amp; Colleges — digital literacy programs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👥  NGOs &amp; Consumer Rights — awareness campaigns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🇮🇳  Government (I4C / NCRP) — citizen reporting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298583"/>
            <a:ext cx="5303520" cy="14630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6382512" y="42976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Segoe UI"/>
              </a:defRPr>
            </a:pPr>
            <a:r>
              <a:rPr dirty="0"/>
              <a:t>🚀  Scalability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617720"/>
            <a:ext cx="5440680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Runs on ANY laptop — no server, no cloud, no cost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Offline-first — works in rural / low-connectivity areas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Open-source — state police can fork &amp; deploy independently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Multi-language — English + Hindi, extensible to 24 official languages</a:t>
            </a:r>
            <a:endParaRPr lang="en-US" dirty="0"/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lang="en-US" dirty="0"/>
              <a:t>•  Docker-ready → 1-click cloud deploy (AWS/GCP free tier)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lang="en-US" dirty="0"/>
              <a:t>•  Phase-wise rollout: Local → Cloud → Android app → NCRP API → National (24 languages)</a:t>
            </a:r>
            <a:endParaRPr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B5646F0-CE21-4C29-E2B6-54A4A63F7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156149"/>
            <a:ext cx="1407535" cy="6779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137160"/>
            <a:ext cx="10058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0116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Team</a:t>
            </a:r>
            <a:br/>
            <a:r>
              <a:t>Valora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2C59"/>
                </a:solidFill>
                <a:latin typeface="Segoe UI"/>
              </a:defRPr>
            </a:pPr>
            <a:r>
              <a:t>Feasibility and Risk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@HSC submission - Team Valora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544" y="1325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Segoe UI"/>
              </a:defRPr>
            </a:pPr>
            <a:r>
              <a:t>✅  Feasibility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Technical — All components built &amp; tested (6/6 smoke tests passing):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FastAPI</a:t>
            </a:r>
            <a:r>
              <a:rPr dirty="0"/>
              <a:t> backend + SQLite — lightweight, runs on any laptop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Ollama</a:t>
            </a:r>
            <a:r>
              <a:rPr dirty="0"/>
              <a:t> offline LLM — free, no API keys needed for core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ReportLab</a:t>
            </a:r>
            <a:r>
              <a:rPr dirty="0"/>
              <a:t> PDF — deterministic, no AI dependency</a:t>
            </a:r>
          </a:p>
          <a:p>
            <a:pPr>
              <a:spcBef>
                <a:spcPts val="200"/>
              </a:spcBef>
              <a:defRPr sz="6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Operational — Zero cost to run, offline-first design: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No cloud hosting required — runs locally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No internet needed for core detection (rules engine)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MIT licensed — anyone can deploy without permission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97706"/>
                </a:solidFill>
                <a:latin typeface="Segoe UI"/>
              </a:defRPr>
            </a:pPr>
            <a:r>
              <a:t>⚠️  Potential Challenges &amp;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745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1. Scammer adaptation — scammers may change tactics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   → Mitigation: Regular pattern updates from community reports</a:t>
            </a:r>
          </a:p>
          <a:p>
            <a:pPr>
              <a:spcBef>
                <a:spcPts val="200"/>
              </a:spcBef>
              <a:defRPr sz="6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2. WhatsApp ban risk — bridge may trigger </a:t>
            </a:r>
            <a:r>
              <a:rPr dirty="0" err="1"/>
              <a:t>ToS</a:t>
            </a:r>
            <a:r>
              <a:rPr dirty="0"/>
              <a:t> detection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   → Mitigation: Secondary phone number, session rotation</a:t>
            </a:r>
          </a:p>
          <a:p>
            <a:pPr>
              <a:spcBef>
                <a:spcPts val="200"/>
              </a:spcBef>
              <a:defRPr sz="6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3. False positives — legitimate UPI IDs flagged as risky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   → Mitigation: Explainable scoring, user feedback loop</a:t>
            </a:r>
          </a:p>
          <a:p>
            <a:pPr>
              <a:spcBef>
                <a:spcPts val="200"/>
              </a:spcBef>
              <a:defRPr sz="6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4. Legal compliance — evidence admissibility in court</a:t>
            </a:r>
          </a:p>
          <a:p>
            <a:pPr>
              <a:spcBef>
                <a:spcPts val="200"/>
              </a:spcBef>
              <a:defRPr sz="10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   → Mitigation: SHA-256 hash + Section 63 BSA compliance built-in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97680"/>
            <a:ext cx="11064240" cy="16459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rPr dirty="0"/>
              <a:t>🛠  </a:t>
            </a:r>
            <a:r>
              <a:rPr lang="en-US" dirty="0"/>
              <a:t>Deployment &amp; Scaling Roadmap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" y="4754880"/>
            <a:ext cx="10515600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lang="en-US" dirty="0"/>
              <a:t>✓  Community-driven pattern database — users report new scam formats, rules engine auto-updates                                                                                                           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lang="en-US" dirty="0"/>
              <a:t>✓  Multi-layer AI fallback — rules engine works even if LLM unavailable (zero AI dependency for detection)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lang="en-US" dirty="0"/>
              <a:t>✓  Incremental rollout — start with state police pilot, then scale to national deployment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lang="en-US" dirty="0"/>
              <a:t>✓  Legal review — Section 63 BSA compliance built into PDF generation from day one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328B5D-3A00-CC6B-5A9B-7D2E3AA29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156149"/>
            <a:ext cx="1407535" cy="6779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137160"/>
            <a:ext cx="10058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0116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Team</a:t>
            </a:r>
            <a:br/>
            <a:r>
              <a:t>Valora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2C59"/>
                </a:solidFill>
                <a:latin typeface="Segoe UI"/>
              </a:defRPr>
            </a:pPr>
            <a: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@HSC submission - Team Valora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960120"/>
            <a:ext cx="3566160" cy="25603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960120"/>
            <a:ext cx="356616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11430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1155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/>
              </a:defRPr>
            </a:pPr>
            <a:r>
              <a:t>Vikash Jakhar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3716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Segoe UI"/>
              </a:defRPr>
            </a:pPr>
            <a:r>
              <a:rPr lang="en-US" dirty="0"/>
              <a:t>Team Leader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4008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Apex Institute of Engineering</a:t>
            </a:r>
            <a:br/>
            <a:r>
              <a:t>&amp; Technology, Jaipur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488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B.Tech Cybersecurity · 3rd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Segoe UI"/>
              </a:defRPr>
            </a:pPr>
            <a:r>
              <a:t>Role: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4155"/>
                </a:solidFill>
                <a:latin typeface="Segoe UI"/>
              </a:defRPr>
            </a:pPr>
            <a:r>
              <a:rPr lang="en-US" dirty="0"/>
              <a:t>Full-stack development, rules &amp; AI engine architecture, team management and security implementation.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960120"/>
            <a:ext cx="3566160" cy="256032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960120"/>
            <a:ext cx="3566160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480560" y="1143000"/>
            <a:ext cx="502920" cy="5029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80560" y="1188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11155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/>
              </a:defRPr>
            </a:pPr>
            <a:r>
              <a:t>Anisha Kuldeep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3716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Segoe UI"/>
              </a:defRPr>
            </a:pPr>
            <a:r>
              <a:t>Member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Rajasthan Institute of</a:t>
            </a:r>
            <a:br/>
            <a:r>
              <a:t>Engineering &amp; Technology, Jaipur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1488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B.Tech CSE · 3rd Year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4688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Segoe UI"/>
              </a:defRPr>
            </a:pPr>
            <a:r>
              <a:t>Role: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65176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34155"/>
                </a:solidFill>
                <a:latin typeface="Segoe UI"/>
              </a:defRPr>
            </a:pPr>
            <a:r>
              <a:rPr lang="fr-FR" dirty="0"/>
              <a:t>UI/UX design, frontend support, user testing </a:t>
            </a:r>
          </a:p>
          <a:p>
            <a:pPr>
              <a:defRPr sz="900" b="0">
                <a:solidFill>
                  <a:srgbClr val="334155"/>
                </a:solidFill>
                <a:latin typeface="Segoe UI"/>
              </a:defRPr>
            </a:pPr>
            <a:r>
              <a:rPr lang="fr-FR" dirty="0"/>
              <a:t>and PPT design.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8138160" y="960120"/>
            <a:ext cx="3566160" cy="256032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960120"/>
            <a:ext cx="3566160" cy="45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321040" y="1143000"/>
            <a:ext cx="502920" cy="5029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1188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111556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/>
              </a:defRPr>
            </a:pPr>
            <a:r>
              <a:t>Navnit Kumar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13716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Segoe UI"/>
              </a:defRPr>
            </a:pPr>
            <a:r>
              <a:t>Member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4155"/>
                </a:solidFill>
                <a:latin typeface="Segoe UI"/>
              </a:defRPr>
            </a:pPr>
            <a:r>
              <a:t>Apex Institute of Engineering</a:t>
            </a:r>
            <a:br/>
            <a:r>
              <a:t>&amp; Technology, Jaipur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1488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BCA Cyber Security &amp; Forensic · 3rd Year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4688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Segoe UI"/>
              </a:defRPr>
            </a:pPr>
            <a:r>
              <a:t>Role: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651760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Cybersecurity research, scam pattern analysis, WhatsApp bridge</a:t>
            </a:r>
            <a:r>
              <a:rPr lang="en-US" dirty="0"/>
              <a:t> and Integration</a:t>
            </a:r>
            <a:r>
              <a:rPr dirty="0"/>
              <a:t> testing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548640" y="37490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2C59"/>
                </a:solidFill>
                <a:latin typeface="Segoe UI"/>
              </a:defRPr>
            </a:pPr>
            <a:r>
              <a:t>Challenges &amp; Journey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0690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🔥  Making the AI decoy convincing enough in natural Hinglish — solved with persona prompt engineering and local Ollama fine-tuning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🔧  Ensuring offline-first architecture without sacrificing functionality — every feature has a no-AI fallback path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📄  Generating court-admissible PDFs with cryptographic integrity — SHA-256 hashing + Section 63 BSA compliance built in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t>🌐  Bridging the language gap — 519 translation keys for Hindi + English, designed for 24-language expansion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6000"/>
            </a:avLst>
          </a:prstGeom>
          <a:solidFill>
            <a:srgbClr val="071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Journey: Built in 48 hours by 3 cybersecurity students who saw their own relatives fall victim to scams. ScamTrap Bharat is our answer — technology that protects the people we love.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98E16E3-822B-FEA9-06CB-57F556FB2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156149"/>
            <a:ext cx="1407535" cy="6779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82880" y="137160"/>
            <a:ext cx="10058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20116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Team</a:t>
            </a:r>
            <a:br/>
            <a:r>
              <a:t>Valora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2C59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6492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@HSC submission - Team Valora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" y="1428411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 b="1">
                <a:solidFill>
                  <a:srgbClr val="0F2C59"/>
                </a:solidFill>
                <a:latin typeface="Segoe UI"/>
              </a:defRPr>
            </a:pPr>
            <a:r>
              <a:rPr dirty="0"/>
              <a:t>Government Sources:</a:t>
            </a:r>
          </a:p>
          <a:p>
            <a:pPr>
              <a:spcBef>
                <a:spcPts val="200"/>
              </a:spcBef>
              <a:defRPr sz="4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Ministry of Home Affairs (MHA) — NCRP / I4C Cyber-fraud data, Lok Sabha reply July 2026</a:t>
            </a:r>
          </a:p>
          <a:p>
            <a:pPr>
              <a:spcBef>
                <a:spcPts val="200"/>
              </a:spcBef>
              <a:defRPr sz="1000" b="0">
                <a:solidFill>
                  <a:srgbClr val="2563EB"/>
                </a:solidFill>
                <a:latin typeface="Segoe UI"/>
              </a:defRPr>
            </a:pPr>
            <a:r>
              <a:rPr dirty="0"/>
              <a:t>    → https://www.mha.gov.in  |  https://cybercrime.gov.in  |  https://i4c.mha.gov.in</a:t>
            </a:r>
          </a:p>
          <a:p>
            <a:pPr>
              <a:spcBef>
                <a:spcPts val="200"/>
              </a:spcBef>
              <a:defRPr sz="6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CFCFRMS (</a:t>
            </a:r>
            <a:r>
              <a:rPr dirty="0" err="1"/>
              <a:t>Centralised</a:t>
            </a:r>
            <a:r>
              <a:rPr dirty="0"/>
              <a:t> Fraud Cyber Financial Risk Management System) — 1930 helpline data</a:t>
            </a:r>
          </a:p>
          <a:p>
            <a:pPr>
              <a:spcBef>
                <a:spcPts val="200"/>
              </a:spcBef>
              <a:defRPr sz="1000" b="0">
                <a:solidFill>
                  <a:srgbClr val="2563EB"/>
                </a:solidFill>
                <a:latin typeface="Segoe UI"/>
              </a:defRPr>
            </a:pPr>
            <a:r>
              <a:rPr dirty="0"/>
              <a:t>    → https://www.cybercrime.gov.in  (32.8 lakh complaints till Jun 2026)</a:t>
            </a:r>
          </a:p>
          <a:p>
            <a:pPr>
              <a:spcBef>
                <a:spcPts val="200"/>
              </a:spcBef>
              <a:defRPr sz="8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300" b="1">
                <a:solidFill>
                  <a:srgbClr val="0F2C59"/>
                </a:solidFill>
                <a:latin typeface="Segoe UI"/>
              </a:defRPr>
            </a:pPr>
            <a:r>
              <a:rPr dirty="0"/>
              <a:t>International Sources:</a:t>
            </a:r>
          </a:p>
          <a:p>
            <a:pPr>
              <a:spcBef>
                <a:spcPts val="200"/>
              </a:spcBef>
              <a:defRPr sz="4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FBI Internet Crime Complaint Center (IC3) — 2025 Internet Crime Report</a:t>
            </a:r>
          </a:p>
          <a:p>
            <a:pPr>
              <a:spcBef>
                <a:spcPts val="200"/>
              </a:spcBef>
              <a:defRPr sz="1000" b="0">
                <a:solidFill>
                  <a:srgbClr val="2563EB"/>
                </a:solidFill>
                <a:latin typeface="Segoe UI"/>
              </a:defRPr>
            </a:pPr>
            <a:r>
              <a:rPr dirty="0"/>
              <a:t>    → https://www.ic3.gov  ($20.9B reported losses, 859,532 complaints in 2025)</a:t>
            </a:r>
          </a:p>
          <a:p>
            <a:pPr>
              <a:spcBef>
                <a:spcPts val="200"/>
              </a:spcBef>
              <a:defRPr sz="8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300" b="1">
                <a:solidFill>
                  <a:srgbClr val="0F2C59"/>
                </a:solidFill>
                <a:latin typeface="Segoe UI"/>
              </a:defRPr>
            </a:pPr>
            <a:r>
              <a:rPr dirty="0"/>
              <a:t>Technical References:</a:t>
            </a:r>
          </a:p>
          <a:p>
            <a:pPr>
              <a:spcBef>
                <a:spcPts val="200"/>
              </a:spcBef>
              <a:defRPr sz="4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Ollama</a:t>
            </a:r>
            <a:r>
              <a:rPr dirty="0"/>
              <a:t> — Local LLM framework for offline AI deployment  |  https://ollama.ai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ReportLab</a:t>
            </a:r>
            <a:r>
              <a:rPr dirty="0"/>
              <a:t> — Python PDF generation library  |  https://www.reportlab.com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whatsapp-web.js — WhatsApp Web API for Node.js  |  https://wwebjs.dev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FastAPI</a:t>
            </a:r>
            <a:r>
              <a:rPr dirty="0"/>
              <a:t> — High-performance Python web framework  |  https://fastapi.tiangolo.com</a:t>
            </a:r>
          </a:p>
          <a:p>
            <a:pPr>
              <a:spcBef>
                <a:spcPts val="200"/>
              </a:spcBef>
              <a:defRPr sz="8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300" b="1">
                <a:solidFill>
                  <a:srgbClr val="0F2C59"/>
                </a:solidFill>
                <a:latin typeface="Segoe UI"/>
              </a:defRPr>
            </a:pPr>
            <a:r>
              <a:rPr dirty="0"/>
              <a:t>UN SDG Alignment:</a:t>
            </a:r>
          </a:p>
          <a:p>
            <a:pPr>
              <a:spcBef>
                <a:spcPts val="200"/>
              </a:spcBef>
              <a:defRPr sz="400" b="0">
                <a:solidFill>
                  <a:srgbClr val="334155"/>
                </a:solidFill>
                <a:latin typeface="Segoe UI"/>
              </a:defRPr>
            </a:pPr>
            <a:endParaRPr dirty="0"/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SDG 16 — Peace, Justice and Strong Institutions (Target 16.4: reduce illicit financial flows)</a:t>
            </a:r>
          </a:p>
          <a:p>
            <a:pPr>
              <a:spcBef>
                <a:spcPts val="200"/>
              </a:spcBef>
              <a:defRPr sz="1100" b="0">
                <a:solidFill>
                  <a:srgbClr val="334155"/>
                </a:solidFill>
                <a:latin typeface="Segoe UI"/>
              </a:defRPr>
            </a:pPr>
            <a:r>
              <a:rPr dirty="0"/>
              <a:t>•  SDG 9 — Industry, Innovation and Infrastructure (digital trust infrastructure)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D8DCE9-FAE6-3D90-7ECB-08B2F32C2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263" y="156149"/>
            <a:ext cx="1407535" cy="6779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1486</Words>
  <Application>Microsoft Office PowerPoint</Application>
  <PresentationFormat>Widescreen</PresentationFormat>
  <Paragraphs>211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Jakhar</cp:lastModifiedBy>
  <cp:revision>2</cp:revision>
  <dcterms:created xsi:type="dcterms:W3CDTF">2013-01-27T09:14:16Z</dcterms:created>
  <dcterms:modified xsi:type="dcterms:W3CDTF">2026-10-14T05:39:46Z</dcterms:modified>
  <cp:category/>
</cp:coreProperties>
</file>